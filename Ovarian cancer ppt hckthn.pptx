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17"/>
  </p:notesMasterIdLst>
  <p:sldIdLst>
    <p:sldId id="256" r:id="rId2"/>
    <p:sldId id="257" r:id="rId3"/>
    <p:sldId id="259" r:id="rId4"/>
    <p:sldId id="277" r:id="rId5"/>
    <p:sldId id="278" r:id="rId6"/>
    <p:sldId id="272" r:id="rId7"/>
    <p:sldId id="273" r:id="rId8"/>
    <p:sldId id="274" r:id="rId9"/>
    <p:sldId id="279" r:id="rId10"/>
    <p:sldId id="271" r:id="rId11"/>
    <p:sldId id="280" r:id="rId12"/>
    <p:sldId id="281" r:id="rId13"/>
    <p:sldId id="266" r:id="rId14"/>
    <p:sldId id="270" r:id="rId15"/>
    <p:sldId id="269" r:id="rId16"/>
  </p:sldIdLst>
  <p:sldSz cx="12192000" cy="6858000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RIRAMTHIRUMENI M" initials="SM" lastIdx="1" clrIdx="0">
    <p:extLst>
      <p:ext uri="{19B8F6BF-5375-455C-9EA6-DF929625EA0E}">
        <p15:presenceInfo xmlns:p15="http://schemas.microsoft.com/office/powerpoint/2012/main" userId="6a368807a9e3f41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D5EA"/>
    <a:srgbClr val="9D13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14654F-04C8-42E1-8522-A7FAAB1EC5F8}" v="22" dt="2026-03-04T15:54:32.9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8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‹#›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9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charset="0"/>
                <a:ea typeface="等线" charset="0"/>
                <a:cs typeface="Calibri" charset="0"/>
              </a:rPr>
              <a:t>3/11/2026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0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1" name="文本框"/>
          <p:cNvSpPr>
            <a:spLocks noGrp="1"/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0331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3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4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737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2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33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4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918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3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47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8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827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13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64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5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55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15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78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79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909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000" b="0" i="0" u="none" strike="noStrike" kern="1200" cap="none" spc="0" baseline="0">
                <a:solidFill>
                  <a:schemeClr val="tx1"/>
                </a:solidFill>
                <a:latin typeface="Calibri Light" charset="0"/>
                <a:ea typeface="等线 Light" charset="0"/>
                <a:cs typeface="Lucida Sans" charset="0"/>
              </a:rPr>
              <a:t>Click to edit Master title style</a:t>
            </a:r>
            <a:endParaRPr lang="zh-CN" altLang="en-US" sz="6000" b="0" i="0" u="none" strike="noStrike" kern="1200" cap="none" spc="0" baseline="0">
              <a:solidFill>
                <a:schemeClr val="tx1"/>
              </a:solidFill>
              <a:latin typeface="Calibri Light" charset="0"/>
              <a:ea typeface="等线 Light" charset="0"/>
              <a:cs typeface="Lucida Sans" charset="0"/>
            </a:endParaRPr>
          </a:p>
        </p:txBody>
      </p:sp>
      <p:sp>
        <p:nvSpPr>
          <p:cNvPr id="14" name="文本框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Lucida Sans" charset="0"/>
              </a:rPr>
              <a:t>Click to edit Master subtitle style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Lucida Sans" charset="0"/>
            </a:endParaRPr>
          </a:p>
        </p:txBody>
      </p:sp>
      <p:sp>
        <p:nvSpPr>
          <p:cNvPr id="15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datetime1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等线" charset="0"/>
                <a:cs typeface="Calibri" charset="0"/>
              </a:rPr>
              <a:t>3/11/2026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6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等线" charset="0"/>
                <a:cs typeface="Calibri" charset="0"/>
              </a:rPr>
              <a:t>Department of Biotechnology - KIT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7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等线" charset="0"/>
                <a:cs typeface="Calibri" charset="0"/>
              </a:rPr>
              <a:t>‹#›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60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577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280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469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962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645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9118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13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113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840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5682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6" name="文本框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27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charset="0"/>
                <a:ea typeface="等线" charset="0"/>
                <a:cs typeface="Calibri" charset="0"/>
              </a:rPr>
              <a:t>3/11/2026</a:t>
            </a:fld>
            <a:endParaRPr lang="zh-CN" altLang="en-US" sz="120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8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r>
              <a:rPr lang="en-US" altLang="zh-CN" sz="1200">
                <a:solidFill>
                  <a:srgbClr val="898989"/>
                </a:solidFill>
                <a:latin typeface="Calibri" charset="0"/>
                <a:ea typeface="等线" charset="0"/>
                <a:cs typeface="Calibri" charset="0"/>
              </a:rPr>
              <a:t>Department of Biotechnology - KIT</a:t>
            </a:r>
            <a:endParaRPr lang="zh-CN" altLang="en-US" sz="120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9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等线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771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charset="0"/>
                <a:ea typeface="等线" charset="0"/>
                <a:cs typeface="Calibri" charset="0"/>
              </a:rPr>
              <a:t>3/11/2026</a:t>
            </a:fld>
            <a:endParaRPr lang="zh-CN" altLang="en-US" sz="120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36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r>
              <a:rPr lang="en-US" altLang="zh-CN" sz="1200">
                <a:solidFill>
                  <a:srgbClr val="898989"/>
                </a:solidFill>
                <a:latin typeface="Calibri" charset="0"/>
                <a:ea typeface="等线" charset="0"/>
                <a:cs typeface="Calibri" charset="0"/>
              </a:rPr>
              <a:t>Department of Biotechnology - KIT</a:t>
            </a:r>
            <a:endParaRPr lang="zh-CN" altLang="en-US" sz="120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37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等线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581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charset="0"/>
                <a:ea typeface="等线" charset="0"/>
                <a:cs typeface="Calibri" charset="0"/>
              </a:rPr>
              <a:t>3/11/2026</a:t>
            </a:fld>
            <a:endParaRPr lang="zh-CN" altLang="en-US" sz="120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r>
              <a:rPr lang="en-US" altLang="zh-CN" sz="1200">
                <a:solidFill>
                  <a:srgbClr val="898989"/>
                </a:solidFill>
                <a:latin typeface="Calibri" charset="0"/>
                <a:ea typeface="等线" charset="0"/>
                <a:cs typeface="Calibri" charset="0"/>
              </a:rPr>
              <a:t>Department of Biotechnology - KIT</a:t>
            </a:r>
            <a:endParaRPr lang="zh-CN" altLang="en-US" sz="120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等线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41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lvl1pPr algn="l" defTabSz="914400" eaLnBrk="1" fontAlgn="auto" latinLnBrk="0" hangingPunct="1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Calibri Light" charset="0"/>
          <a:ea typeface="等线 Light" charset="0"/>
          <a:cs typeface="Calibri Light" charset="0"/>
        </a:defRPr>
      </a:lvl1pPr>
    </p:titleStyle>
    <p:bodyStyle>
      <a:lvl1pPr marL="228600" indent="-228600" algn="l" defTabSz="914400" eaLnBrk="1" fontAlgn="auto" latinLnBrk="0" hangingPunct="1">
        <a:lnSpc>
          <a:spcPct val="90000"/>
        </a:lnSpc>
        <a:spcBef>
          <a:spcPts val="1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1pPr>
      <a:lvl2pPr marL="685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2pPr>
      <a:lvl3pPr marL="1143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3pPr>
      <a:lvl4pPr marL="16002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4pPr>
      <a:lvl5pPr marL="20574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5pPr>
      <a:lvl6pPr marL="25146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6pPr>
      <a:lvl7pPr marL="2971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7pPr>
      <a:lvl8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8pPr>
      <a:lvl9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"/>
          <p:cNvSpPr>
            <a:spLocks noGrp="1"/>
          </p:cNvSpPr>
          <p:nvPr>
            <p:ph type="subTitle" idx="1"/>
          </p:nvPr>
        </p:nvSpPr>
        <p:spPr>
          <a:xfrm>
            <a:off x="8207477" y="3935721"/>
            <a:ext cx="3146323" cy="196237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Under the Guidance of:</a:t>
            </a:r>
            <a:endParaRPr lang="en-US" altLang="zh-CN" sz="2000" b="1" i="0" u="none" strike="noStrike" kern="1200" cap="none" spc="0" baseline="0" dirty="0">
              <a:solidFill>
                <a:schemeClr val="accent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  <a:p>
            <a:pPr mar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kern="100" dirty="0">
                <a:solidFill>
                  <a:srgbClr val="000000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Dr. A. S. Arunprasad</a:t>
            </a:r>
            <a:r>
              <a:rPr lang="en-US" altLang="zh-CN" sz="1800" kern="1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altLang="zh-CN" sz="1800" b="1" kern="1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Assistant professor</a:t>
            </a:r>
            <a:r>
              <a:rPr lang="en-US" altLang="zh-CN" sz="1800" b="1" i="0" u="none" strike="noStrike" kern="100" cap="none" spc="0" baseline="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</a:t>
            </a:r>
          </a:p>
          <a:p>
            <a:pPr mar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00" cap="none" spc="0" baseline="0" dirty="0">
                <a:solidFill>
                  <a:srgbClr val="000000"/>
                </a:solidFill>
                <a:latin typeface="Times New Roman" pitchFamily="18" charset="0"/>
                <a:ea typeface="Calibri" charset="0"/>
                <a:cs typeface="Times New Roman" pitchFamily="18" charset="0"/>
              </a:rPr>
              <a:t>Department of Biotechnology</a:t>
            </a:r>
            <a:r>
              <a:rPr lang="en-US" altLang="zh-CN" sz="1800" b="0" i="0" u="none" strike="noStrike" kern="100" cap="none" spc="0" baseline="0" dirty="0">
                <a:solidFill>
                  <a:srgbClr val="000000"/>
                </a:solidFill>
                <a:latin typeface="Times New Roman" pitchFamily="18" charset="0"/>
                <a:ea typeface="Calibri" charset="0"/>
                <a:cs typeface="Times New Roman" pitchFamily="18" charset="0"/>
              </a:rPr>
              <a:t>.</a:t>
            </a:r>
          </a:p>
          <a:p>
            <a:pPr mar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00" cap="none" spc="0" baseline="0" dirty="0">
              <a:solidFill>
                <a:schemeClr val="tx1"/>
              </a:solidFill>
              <a:latin typeface="Times New Roman" pitchFamily="18" charset="0"/>
              <a:ea typeface="Calibri" charset="0"/>
              <a:cs typeface="Times New Roman" pitchFamily="18" charset="0"/>
            </a:endParaRPr>
          </a:p>
        </p:txBody>
      </p:sp>
      <p:sp>
        <p:nvSpPr>
          <p:cNvPr id="20" name="矩形"/>
          <p:cNvSpPr>
            <a:spLocks/>
          </p:cNvSpPr>
          <p:nvPr/>
        </p:nvSpPr>
        <p:spPr>
          <a:xfrm>
            <a:off x="315310" y="3699537"/>
            <a:ext cx="8187559" cy="181919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36000" tIns="108000" rIns="108000" bIns="7200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 dirty="0">
                <a:solidFill>
                  <a:schemeClr val="accent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Presented By:</a:t>
            </a:r>
            <a:endParaRPr lang="en-US" altLang="zh-CN" sz="2000" b="1" dirty="0">
              <a:solidFill>
                <a:schemeClr val="bg2">
                  <a:lumMod val="10000"/>
                </a:schemeClr>
              </a:solidFill>
              <a:latin typeface="Times New Roman"/>
              <a:ea typeface="等线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Times New Roman"/>
                <a:ea typeface="等线"/>
                <a:cs typeface="Times New Roman"/>
              </a:rPr>
              <a:t>HARSHINI R 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Times New Roman"/>
                <a:ea typeface="等线"/>
                <a:cs typeface="Times New Roman"/>
              </a:rPr>
              <a:t>PRASANA R 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Times New Roman"/>
                <a:ea typeface="等线"/>
                <a:cs typeface="Times New Roman"/>
              </a:rPr>
              <a:t>DHARSHINI R</a:t>
            </a:r>
          </a:p>
        </p:txBody>
      </p:sp>
      <p:sp>
        <p:nvSpPr>
          <p:cNvPr id="21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等线" charset="0"/>
                <a:cs typeface="Calibri" charset="0"/>
              </a:rPr>
              <a:t>1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2" name="矩形"/>
          <p:cNvSpPr>
            <a:spLocks/>
          </p:cNvSpPr>
          <p:nvPr/>
        </p:nvSpPr>
        <p:spPr>
          <a:xfrm>
            <a:off x="1503680" y="2390441"/>
            <a:ext cx="10068209" cy="83099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2400" b="1" i="0" u="none" strike="noStrike" kern="1200" cap="none" spc="0" baseline="0" dirty="0">
                <a:solidFill>
                  <a:schemeClr val="tx1"/>
                </a:solidFill>
                <a:latin typeface="Times New Roman" panose="02020603050405020304" pitchFamily="18" charset="0"/>
                <a:ea typeface="等线" charset="0"/>
                <a:cs typeface="Times New Roman" panose="02020603050405020304" pitchFamily="18" charset="0"/>
              </a:rPr>
              <a:t>DEVELOPMENT OF MOBILE APP FOR PREDICTING OVARIAN CANCER BY USING AI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606DFD-40C2-69E1-657B-0293AEB9B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771" y="830183"/>
            <a:ext cx="1318777" cy="13552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2D4655-E197-B5A8-F857-4A4CD0C96C9C}"/>
              </a:ext>
            </a:extLst>
          </p:cNvPr>
          <p:cNvSpPr txBox="1"/>
          <p:nvPr/>
        </p:nvSpPr>
        <p:spPr>
          <a:xfrm>
            <a:off x="2899065" y="1153860"/>
            <a:ext cx="887252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KIT-KALAIGNARKARUNANIDHI INSTITUTE OF TECHNOLOGY</a:t>
            </a:r>
          </a:p>
          <a:p>
            <a:r>
              <a:rPr lang="en-US" sz="20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                               COIMBATORE-641402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272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"/>
          <p:cNvSpPr>
            <a:spLocks noGrp="1"/>
          </p:cNvSpPr>
          <p:nvPr>
            <p:ph type="body" idx="1"/>
          </p:nvPr>
        </p:nvSpPr>
        <p:spPr>
          <a:xfrm>
            <a:off x="2198271" y="1830031"/>
            <a:ext cx="5506066" cy="451488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514350" indent="-51435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zh-CN" sz="2800" b="0" i="0" u="none" strike="noStrike" kern="1200" cap="none" spc="0" baseline="0" dirty="0">
                <a:latin typeface="Times New Roman"/>
                <a:ea typeface="等线"/>
                <a:cs typeface="Times New Roman"/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latin typeface="Times New Roman"/>
                <a:ea typeface="等线"/>
                <a:cs typeface="Times New Roman"/>
              </a:rPr>
              <a:t>Problem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latin typeface="Times New Roman"/>
                <a:ea typeface="等线"/>
                <a:cs typeface="Times New Roman"/>
              </a:rPr>
              <a:t>Objectives</a:t>
            </a:r>
            <a:endParaRPr lang="en-US" altLang="zh-CN" sz="2800" b="0" i="0" u="none" strike="noStrike" kern="1200" cap="none" spc="0" baseline="0" dirty="0">
              <a:latin typeface="Times New Roman"/>
              <a:ea typeface="等线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latin typeface="Times New Roman"/>
                <a:ea typeface="等线"/>
                <a:cs typeface="Times New Roman"/>
              </a:rPr>
              <a:t>Review of literature</a:t>
            </a:r>
          </a:p>
          <a:p>
            <a:pPr marL="514350" indent="-514350">
              <a:buAutoNum type="arabicPeriod" startAt="5"/>
            </a:pPr>
            <a:r>
              <a:rPr lang="en-GB" altLang="zh-CN" dirty="0">
                <a:latin typeface="Times New Roman"/>
                <a:ea typeface="等线"/>
                <a:cs typeface="Times New Roman"/>
              </a:rPr>
              <a:t>Methodology</a:t>
            </a:r>
          </a:p>
          <a:p>
            <a:pPr marL="0" indent="0">
              <a:buNone/>
            </a:pPr>
            <a:r>
              <a:rPr lang="en-GB" altLang="zh-CN" dirty="0">
                <a:latin typeface="Times New Roman"/>
                <a:ea typeface="等线"/>
                <a:cs typeface="Times New Roman"/>
              </a:rPr>
              <a:t>5.1</a:t>
            </a:r>
            <a:r>
              <a:rPr lang="en-US" altLang="zh-CN" dirty="0">
                <a:solidFill>
                  <a:schemeClr val="accent1"/>
                </a:solidFill>
                <a:latin typeface="Times New Roman" panose="02020603050405020304" pitchFamily="18" charset="0"/>
                <a:ea typeface="等线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等线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ataset description</a:t>
            </a:r>
            <a:endParaRPr lang="en-GB" altLang="zh-CN" dirty="0">
              <a:latin typeface="Times New Roman"/>
              <a:ea typeface="等线"/>
              <a:cs typeface="Times New Roman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/>
                <a:ea typeface="等线"/>
                <a:cs typeface="Times New Roman"/>
              </a:rPr>
              <a:t>5.2 Project parameters</a:t>
            </a:r>
          </a:p>
          <a:p>
            <a:pPr marL="0" indent="0">
              <a:buNone/>
            </a:pPr>
            <a:r>
              <a:rPr lang="en-US" altLang="zh-CN" dirty="0">
                <a:latin typeface="Times New Roman"/>
                <a:ea typeface="等线"/>
                <a:cs typeface="Times New Roman"/>
              </a:rPr>
              <a:t>6.   Result</a:t>
            </a:r>
          </a:p>
          <a:p>
            <a:pPr marL="0" indent="0">
              <a:buNone/>
            </a:pPr>
            <a:r>
              <a:rPr lang="en-US" altLang="zh-CN" dirty="0">
                <a:latin typeface="Times New Roman"/>
                <a:ea typeface="等线"/>
                <a:cs typeface="Times New Roman"/>
              </a:rPr>
              <a:t>7.   Future work</a:t>
            </a:r>
          </a:p>
          <a:p>
            <a:pPr marL="0" indent="0">
              <a:buNone/>
            </a:pPr>
            <a:r>
              <a:rPr lang="en-US" altLang="zh-CN" dirty="0">
                <a:latin typeface="Times New Roman"/>
                <a:ea typeface="等线"/>
                <a:cs typeface="Times New Roman"/>
              </a:rPr>
              <a:t>8.   Reference</a:t>
            </a:r>
          </a:p>
          <a:p>
            <a:pPr marL="514350" indent="-514350">
              <a:buAutoNum type="arabicPeriod"/>
            </a:pPr>
            <a:endParaRPr lang="en-US" altLang="zh-CN" dirty="0">
              <a:latin typeface="Times New Roman"/>
              <a:ea typeface="等线"/>
              <a:cs typeface="Times New Roman"/>
            </a:endParaRPr>
          </a:p>
          <a:p>
            <a:pPr marL="514350" indent="-514350">
              <a:buAutoNum type="arabicPeriod"/>
            </a:pPr>
            <a:endParaRPr lang="en-US" altLang="zh-CN" dirty="0">
              <a:latin typeface="Times New Roman"/>
              <a:ea typeface="等线"/>
              <a:cs typeface="Times New Roman"/>
            </a:endParaRPr>
          </a:p>
          <a:p>
            <a:pPr marL="514350" indent="-514350">
              <a:buFontTx/>
              <a:buAutoNum type="arabicPeriod"/>
            </a:pPr>
            <a:endParaRPr lang="en-US" altLang="zh-CN" dirty="0">
              <a:latin typeface="Times New Roman"/>
              <a:ea typeface="等线"/>
              <a:cs typeface="Times New Roman"/>
            </a:endParaRPr>
          </a:p>
        </p:txBody>
      </p:sp>
      <p:sp>
        <p:nvSpPr>
          <p:cNvPr id="31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等线" charset="0"/>
                <a:cs typeface="Calibri" charset="0"/>
              </a:rPr>
              <a:t>2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32" name="右箭头"/>
          <p:cNvSpPr>
            <a:spLocks/>
          </p:cNvSpPr>
          <p:nvPr/>
        </p:nvSpPr>
        <p:spPr>
          <a:xfrm>
            <a:off x="560308" y="150521"/>
            <a:ext cx="6223518" cy="1679510"/>
          </a:xfrm>
          <a:prstGeom prst="rightArrow">
            <a:avLst>
              <a:gd name="adj1" fmla="val 50000"/>
              <a:gd name="adj2" fmla="val 48721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 cap="flat" cmpd="sng">
            <a:solidFill>
              <a:srgbClr val="D9E2F3"/>
            </a:solidFill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i="0" u="none" strike="noStrike" kern="1200" cap="none" spc="0" baseline="0" dirty="0">
                <a:solidFill>
                  <a:schemeClr val="accent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TABLE</a:t>
            </a:r>
            <a:r>
              <a:rPr lang="en-US" altLang="zh-CN" sz="4000" b="1" i="0" u="none" strike="noStrike" kern="1200" cap="none" spc="0" baseline="0" dirty="0">
                <a:solidFill>
                  <a:srgbClr val="548135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</a:t>
            </a:r>
            <a:r>
              <a:rPr lang="en-US" altLang="zh-CN" sz="4000" i="0" u="none" strike="noStrike" kern="1200" cap="none" spc="0" baseline="0" dirty="0">
                <a:solidFill>
                  <a:schemeClr val="accent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OF</a:t>
            </a:r>
            <a:r>
              <a:rPr lang="en-US" altLang="zh-CN" sz="4000" i="0" u="none" strike="noStrike" kern="1200" cap="none" spc="0" baseline="0" dirty="0">
                <a:solidFill>
                  <a:srgbClr val="548135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</a:t>
            </a:r>
            <a:r>
              <a:rPr lang="en-US" altLang="zh-CN" sz="4000" i="0" u="none" strike="noStrike" kern="1200" cap="none" spc="0" baseline="0" dirty="0">
                <a:solidFill>
                  <a:schemeClr val="accent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CONTENTS</a:t>
            </a:r>
            <a:endParaRPr lang="zh-CN" altLang="en-US" sz="4000" i="0" u="none" strike="noStrike" kern="1200" cap="none" spc="0" baseline="0" dirty="0">
              <a:solidFill>
                <a:schemeClr val="accent1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860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等线" charset="0"/>
                <a:cs typeface="Calibri" charset="0"/>
              </a:rPr>
              <a:t>3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46" name="燕尾形"/>
          <p:cNvSpPr>
            <a:spLocks/>
          </p:cNvSpPr>
          <p:nvPr/>
        </p:nvSpPr>
        <p:spPr>
          <a:xfrm>
            <a:off x="483887" y="618925"/>
            <a:ext cx="6179672" cy="965201"/>
          </a:xfrm>
          <a:prstGeom prst="chevron">
            <a:avLst>
              <a:gd name="adj" fmla="val 49987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 cap="flat" cmpd="sng">
            <a:solidFill>
              <a:srgbClr val="D9E2F3"/>
            </a:solidFill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altLang="zh-CN" sz="4400" i="0" u="none" strike="noStrike" kern="1200" cap="none" spc="0" baseline="0" dirty="0">
                <a:solidFill>
                  <a:schemeClr val="accent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1.INTRODUTION</a:t>
            </a:r>
            <a:endParaRPr lang="zh-CN" altLang="en-US" sz="4400" i="0" u="none" strike="noStrike" kern="1200" cap="none" spc="0" baseline="0" dirty="0">
              <a:solidFill>
                <a:schemeClr val="accent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</p:txBody>
      </p:sp>
      <p:sp>
        <p:nvSpPr>
          <p:cNvPr id="44" name="文本框"/>
          <p:cNvSpPr>
            <a:spLocks noGrp="1"/>
          </p:cNvSpPr>
          <p:nvPr>
            <p:ph type="body" idx="1"/>
          </p:nvPr>
        </p:nvSpPr>
        <p:spPr>
          <a:xfrm>
            <a:off x="483887" y="2165130"/>
            <a:ext cx="10643157" cy="407394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Ovarian cancer found to be one of most dangerous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Gynaecological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malignancies 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 207,000 women die annually by Ovarian cancer.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more difficult to manually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because it has many subtypes(HGSC, LGSC,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&amp; also have high  demand for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Gynaecologic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oncologist.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can improve accuracy and reduce diagnosis time &amp; cost.</a:t>
            </a:r>
          </a:p>
        </p:txBody>
      </p:sp>
    </p:spTree>
    <p:extLst>
      <p:ext uri="{BB962C8B-B14F-4D97-AF65-F5344CB8AC3E}">
        <p14:creationId xmlns:p14="http://schemas.microsoft.com/office/powerpoint/2010/main" val="1532592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9336C-C723-ADFD-7406-4C050E12A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1213" y="1828800"/>
            <a:ext cx="10599174" cy="4915722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Late-stage detection increases mortality rate.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 for automated, fast, and reliable screening.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 dependency on manual microscopic examination.</a:t>
            </a:r>
          </a:p>
          <a:p>
            <a:endParaRPr lang="en-IN" dirty="0"/>
          </a:p>
        </p:txBody>
      </p:sp>
      <p:sp>
        <p:nvSpPr>
          <p:cNvPr id="4" name="燕尾形">
            <a:extLst>
              <a:ext uri="{FF2B5EF4-FFF2-40B4-BE49-F238E27FC236}">
                <a16:creationId xmlns:a16="http://schemas.microsoft.com/office/drawing/2014/main" id="{72575AD8-B51E-AD95-03EE-3D51D72EE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315632" cy="716423"/>
          </a:xfrm>
          <a:prstGeom prst="chevron">
            <a:avLst>
              <a:gd name="adj" fmla="val 49987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 cap="flat" cmpd="sng">
            <a:solidFill>
              <a:srgbClr val="D9E2F3"/>
            </a:solidFill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altLang="zh-CN" sz="4000" i="0" u="none" strike="noStrike" kern="1200" cap="none" spc="0" baseline="0" dirty="0">
                <a:solidFill>
                  <a:schemeClr val="accent1"/>
                </a:solidFill>
                <a:latin typeface="Times New Roman" panose="02020603050405020304" pitchFamily="18" charset="0"/>
                <a:ea typeface="等线" charset="0"/>
                <a:cs typeface="Times New Roman" panose="02020603050405020304" pitchFamily="18" charset="0"/>
              </a:rPr>
              <a:t> 2.PROBLEM STATEMENT</a:t>
            </a:r>
            <a:endParaRPr lang="zh-CN" altLang="en-US" sz="4000" i="0" u="none" strike="noStrike" kern="1200" cap="none" spc="0" baseline="0" dirty="0">
              <a:solidFill>
                <a:schemeClr val="accent1"/>
              </a:solidFill>
              <a:latin typeface="Times New Roman" panose="02020603050405020304" pitchFamily="18" charset="0"/>
              <a:ea typeface="等线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604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697A8-9284-0C98-DEEF-BCE96F64A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5821" y="2015613"/>
            <a:ext cx="10922876" cy="4842388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ML-based system for the early prediction of ovarian cancer using clinical and biomarker data.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accuracy and reliability of ovarian cancer detection using machine learning techniques.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assist in early diagnosis and support timely treatment through a user-friendly mobile application.</a:t>
            </a:r>
          </a:p>
        </p:txBody>
      </p:sp>
      <p:sp>
        <p:nvSpPr>
          <p:cNvPr id="4" name="燕尾形">
            <a:extLst>
              <a:ext uri="{FF2B5EF4-FFF2-40B4-BE49-F238E27FC236}">
                <a16:creationId xmlns:a16="http://schemas.microsoft.com/office/drawing/2014/main" id="{9665BA31-CF2B-143B-4D5E-DA3FD7DE5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10" y="175939"/>
            <a:ext cx="5268311" cy="1325563"/>
          </a:xfrm>
          <a:prstGeom prst="chevron">
            <a:avLst>
              <a:gd name="adj" fmla="val 49987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 cap="flat" cmpd="sng">
            <a:solidFill>
              <a:srgbClr val="D9E2F3"/>
            </a:solidFill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altLang="zh-CN" sz="4000" dirty="0">
                <a:solidFill>
                  <a:schemeClr val="accent1"/>
                </a:solidFill>
                <a:latin typeface="Times New Roman" panose="02020603050405020304" pitchFamily="18" charset="0"/>
                <a:ea typeface="等线" charset="0"/>
                <a:cs typeface="Times New Roman" pitchFamily="18" charset="0"/>
              </a:rPr>
              <a:t> 3</a:t>
            </a:r>
            <a:r>
              <a:rPr lang="en-US" altLang="zh-CN" sz="4000" i="0" u="none" strike="noStrike" kern="1200" cap="none" spc="0" baseline="0" dirty="0">
                <a:solidFill>
                  <a:schemeClr val="accent1"/>
                </a:solidFill>
                <a:latin typeface="Times New Roman" panose="02020603050405020304" pitchFamily="18" charset="0"/>
                <a:ea typeface="等线" charset="0"/>
                <a:cs typeface="Times New Roman" pitchFamily="18" charset="0"/>
              </a:rPr>
              <a:t>.OBJECTIVES</a:t>
            </a:r>
            <a:endParaRPr lang="zh-CN" altLang="en-US" sz="4000" i="0" u="none" strike="noStrike" kern="1200" cap="none" spc="0" baseline="0" dirty="0">
              <a:solidFill>
                <a:schemeClr val="accent1"/>
              </a:solidFill>
              <a:latin typeface="Times New Roman" panose="02020603050405020304" pitchFamily="18" charset="0"/>
              <a:ea typeface="等线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882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燕尾形">
            <a:extLst>
              <a:ext uri="{FF2B5EF4-FFF2-40B4-BE49-F238E27FC236}">
                <a16:creationId xmlns:a16="http://schemas.microsoft.com/office/drawing/2014/main" id="{67F752B9-0459-515B-C635-EDE4B28C0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98" y="81580"/>
            <a:ext cx="9194800" cy="822959"/>
          </a:xfrm>
          <a:prstGeom prst="chevron">
            <a:avLst>
              <a:gd name="adj" fmla="val 49987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 cap="flat" cmpd="sng">
            <a:solidFill>
              <a:srgbClr val="D9E2F3"/>
            </a:solidFill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altLang="zh-CN" dirty="0">
                <a:solidFill>
                  <a:schemeClr val="accent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4</a:t>
            </a:r>
            <a:r>
              <a:rPr lang="en-US" altLang="zh-CN" sz="4400" i="0" u="none" strike="noStrike" kern="1200" cap="none" spc="0" baseline="0" dirty="0">
                <a:solidFill>
                  <a:schemeClr val="accent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. REVIEW OF LITERATURE</a:t>
            </a:r>
            <a:endParaRPr lang="zh-CN" altLang="en-US" sz="1800" i="0" u="none" strike="noStrike" kern="1200" cap="none" spc="0" baseline="0" dirty="0">
              <a:solidFill>
                <a:schemeClr val="accent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8B4957-7057-1701-8459-DEC16FEA9A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713316"/>
              </p:ext>
            </p:extLst>
          </p:nvPr>
        </p:nvGraphicFramePr>
        <p:xfrm>
          <a:off x="99498" y="1152666"/>
          <a:ext cx="11501121" cy="56237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90605">
                  <a:extLst>
                    <a:ext uri="{9D8B030D-6E8A-4147-A177-3AD203B41FA5}">
                      <a16:colId xmlns:a16="http://schemas.microsoft.com/office/drawing/2014/main" val="2070295320"/>
                    </a:ext>
                  </a:extLst>
                </a:gridCol>
                <a:gridCol w="2923172">
                  <a:extLst>
                    <a:ext uri="{9D8B030D-6E8A-4147-A177-3AD203B41FA5}">
                      <a16:colId xmlns:a16="http://schemas.microsoft.com/office/drawing/2014/main" val="2774468178"/>
                    </a:ext>
                  </a:extLst>
                </a:gridCol>
                <a:gridCol w="2893672">
                  <a:extLst>
                    <a:ext uri="{9D8B030D-6E8A-4147-A177-3AD203B41FA5}">
                      <a16:colId xmlns:a16="http://schemas.microsoft.com/office/drawing/2014/main" val="297047922"/>
                    </a:ext>
                  </a:extLst>
                </a:gridCol>
                <a:gridCol w="2893672">
                  <a:extLst>
                    <a:ext uri="{9D8B030D-6E8A-4147-A177-3AD203B41FA5}">
                      <a16:colId xmlns:a16="http://schemas.microsoft.com/office/drawing/2014/main" val="439334213"/>
                    </a:ext>
                  </a:extLst>
                </a:gridCol>
              </a:tblGrid>
              <a:tr h="4468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     Journal Name</a:t>
                      </a:r>
                      <a:endParaRPr lang="en-IN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2500" marR="525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         Author(s)</a:t>
                      </a:r>
                      <a:endParaRPr lang="en-IN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2500" marR="525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      Article Title</a:t>
                      </a:r>
                      <a:endParaRPr lang="en-IN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2500" marR="525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       Remarks</a:t>
                      </a:r>
                      <a:endParaRPr lang="en-IN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2500" marR="52500" marT="0" marB="0"/>
                </a:tc>
                <a:extLst>
                  <a:ext uri="{0D108BD9-81ED-4DB2-BD59-A6C34878D82A}">
                    <a16:rowId xmlns:a16="http://schemas.microsoft.com/office/drawing/2014/main" val="1114040511"/>
                  </a:ext>
                </a:extLst>
              </a:tr>
              <a:tr h="16453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/>
                        <a:t>The Lancet Digital Health (2024)</a:t>
                      </a:r>
                      <a:endParaRPr lang="en-IN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2500" marR="525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dirty="0"/>
                        <a:t>Cai, G., Huang, F., Gao, Y., Li, X., Chi, J., Xie, J., Zhou, L., Feng, Y., Huang, H., Deng, T., Zhou, Y., Zhang, C., Luo, X., Xie, X., Gao, Q., Zhen, X., &amp; Liu, J.</a:t>
                      </a:r>
                      <a:endParaRPr lang="en-IN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2500" marR="525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/>
                        <a:t>Artificial intelligence–based models enabling accurate diagnosis of ovarian cancer using laboratory tests in China: A </a:t>
                      </a:r>
                      <a:r>
                        <a:rPr lang="en-US" sz="1600" dirty="0" err="1"/>
                        <a:t>multicentre</a:t>
                      </a:r>
                      <a:r>
                        <a:rPr lang="en-US" sz="1600" dirty="0"/>
                        <a:t>, retrospective cohort study</a:t>
                      </a:r>
                      <a:endParaRPr lang="en-IN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2500" marR="525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 err="1"/>
                        <a:t>Multicentre</a:t>
                      </a:r>
                      <a:r>
                        <a:rPr lang="en-US" sz="1600" dirty="0"/>
                        <a:t> study showing AI models can accurately diagnose ovarian cancer from lab tests; highlights potential for clinical adoption in China.</a:t>
                      </a:r>
                      <a:endParaRPr lang="en-IN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2500" marR="52500" marT="0" marB="0"/>
                </a:tc>
                <a:extLst>
                  <a:ext uri="{0D108BD9-81ED-4DB2-BD59-A6C34878D82A}">
                    <a16:rowId xmlns:a16="http://schemas.microsoft.com/office/drawing/2014/main" val="1358360301"/>
                  </a:ext>
                </a:extLst>
              </a:tr>
              <a:tr h="20727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dirty="0"/>
                        <a:t>Health Science Reports (2024)</a:t>
                      </a:r>
                      <a:endParaRPr lang="en-IN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2500" marR="525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dirty="0" err="1"/>
                        <a:t>Ayyoubzadeh</a:t>
                      </a:r>
                      <a:r>
                        <a:rPr lang="en-IN" sz="1600" dirty="0"/>
                        <a:t>, S. M., Ahmadi, M., </a:t>
                      </a:r>
                      <a:r>
                        <a:rPr lang="en-IN" sz="1600" dirty="0" err="1"/>
                        <a:t>Yazdipour</a:t>
                      </a:r>
                      <a:r>
                        <a:rPr lang="en-IN" sz="1600" dirty="0"/>
                        <a:t>, A. B., Ghorbani-</a:t>
                      </a:r>
                      <a:r>
                        <a:rPr lang="en-IN" sz="1600" dirty="0" err="1"/>
                        <a:t>Bidkorpeh</a:t>
                      </a:r>
                      <a:r>
                        <a:rPr lang="en-IN" sz="1600" dirty="0"/>
                        <a:t>, F., &amp; Ahmadi, M.</a:t>
                      </a:r>
                      <a:endParaRPr lang="en-IN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2500" marR="525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/>
                        <a:t>Prediction of ovarian cancer using artificial intelligence tools</a:t>
                      </a:r>
                      <a:endParaRPr lang="en-IN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2500" marR="525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/>
                        <a:t>Demonstrates predictive capability of AI tools for ovarian cancer; emphasizes feasibility of AI in early detection.</a:t>
                      </a:r>
                      <a:endParaRPr lang="en-IN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2500" marR="52500" marT="0" marB="0"/>
                </a:tc>
                <a:extLst>
                  <a:ext uri="{0D108BD9-81ED-4DB2-BD59-A6C34878D82A}">
                    <a16:rowId xmlns:a16="http://schemas.microsoft.com/office/drawing/2014/main" val="2419581039"/>
                  </a:ext>
                </a:extLst>
              </a:tr>
              <a:tr h="144555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dirty="0"/>
                        <a:t>Diagnostics (2025)</a:t>
                      </a:r>
                      <a:endParaRPr lang="en-IN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2500" marR="525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dirty="0"/>
                        <a:t>Hong, M.-K., &amp; Ding, D.-C.</a:t>
                      </a:r>
                      <a:endParaRPr lang="en-IN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2500" marR="525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/>
                        <a:t>Early diagnosis of ovarian cancer: A comprehensive review of the advances, challenges, and future directions</a:t>
                      </a:r>
                      <a:endParaRPr lang="en-IN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2500" marR="525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/>
                        <a:t>Review article summarizing advances in early diagnosis, current challenges, and future directions in ovarian cancer detection.</a:t>
                      </a:r>
                      <a:endParaRPr lang="en-IN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2500" marR="52500" marT="0" marB="0"/>
                </a:tc>
                <a:extLst>
                  <a:ext uri="{0D108BD9-81ED-4DB2-BD59-A6C34878D82A}">
                    <a16:rowId xmlns:a16="http://schemas.microsoft.com/office/drawing/2014/main" val="4019080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1066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2D80E48-554F-5C5B-1DCD-B94D84BF1F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805975"/>
              </p:ext>
            </p:extLst>
          </p:nvPr>
        </p:nvGraphicFramePr>
        <p:xfrm>
          <a:off x="507998" y="0"/>
          <a:ext cx="11176001" cy="32206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67823">
                  <a:extLst>
                    <a:ext uri="{9D8B030D-6E8A-4147-A177-3AD203B41FA5}">
                      <a16:colId xmlns:a16="http://schemas.microsoft.com/office/drawing/2014/main" val="718731269"/>
                    </a:ext>
                  </a:extLst>
                </a:gridCol>
                <a:gridCol w="2932217">
                  <a:extLst>
                    <a:ext uri="{9D8B030D-6E8A-4147-A177-3AD203B41FA5}">
                      <a16:colId xmlns:a16="http://schemas.microsoft.com/office/drawing/2014/main" val="1943452826"/>
                    </a:ext>
                  </a:extLst>
                </a:gridCol>
                <a:gridCol w="2888406">
                  <a:extLst>
                    <a:ext uri="{9D8B030D-6E8A-4147-A177-3AD203B41FA5}">
                      <a16:colId xmlns:a16="http://schemas.microsoft.com/office/drawing/2014/main" val="2612265781"/>
                    </a:ext>
                  </a:extLst>
                </a:gridCol>
                <a:gridCol w="2887555">
                  <a:extLst>
                    <a:ext uri="{9D8B030D-6E8A-4147-A177-3AD203B41FA5}">
                      <a16:colId xmlns:a16="http://schemas.microsoft.com/office/drawing/2014/main" val="502525893"/>
                    </a:ext>
                  </a:extLst>
                </a:gridCol>
              </a:tblGrid>
              <a:tr h="11746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       Journal Name</a:t>
                      </a:r>
                      <a:endParaRPr lang="en-IN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     Author Name</a:t>
                      </a:r>
                      <a:endParaRPr lang="en-IN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      Article Title</a:t>
                      </a:r>
                      <a:endParaRPr lang="en-IN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         Remarks</a:t>
                      </a:r>
                      <a:endParaRPr lang="en-IN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476202"/>
                  </a:ext>
                </a:extLst>
              </a:tr>
              <a:tr h="20459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dirty="0" err="1"/>
                        <a:t>eClinicalMedicine</a:t>
                      </a:r>
                      <a:r>
                        <a:rPr lang="en-IN" sz="1600" dirty="0"/>
                        <a:t> (2022</a:t>
                      </a:r>
                      <a:r>
                        <a:rPr lang="en-IN" sz="2000" dirty="0"/>
                        <a:t>)</a:t>
                      </a:r>
                      <a:endParaRPr lang="en-IN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dirty="0"/>
                        <a:t>Xu, H.-L., Gong, T.-T., Liu, F.-H., Chen, H.-Y., Xiao, Q., Hou, Y., Huang, Y., Sun, H.-Z., Shi, Y., Gao, S., Lou, Y., Chang, Q., Zhao</a:t>
                      </a:r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, Y.-H., Gao, Q.-L., &amp; Wu, Q.-J.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/>
                        <a:t>Artificial intelligence performance in image-based ovarian cancer identification: A systematic review and meta-analysis</a:t>
                      </a:r>
                      <a:endParaRPr lang="en-IN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/>
                        <a:t>Meta-analysis evaluating AI performance in image-based ovarian cancer identification; confirms strong diagnostic accuracy across studies.</a:t>
                      </a:r>
                      <a:endParaRPr lang="en-IN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046947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2B2A678-89B0-1434-0630-B94253DAE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002339"/>
              </p:ext>
            </p:extLst>
          </p:nvPr>
        </p:nvGraphicFramePr>
        <p:xfrm>
          <a:off x="507998" y="2979928"/>
          <a:ext cx="11186162" cy="37925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69895">
                  <a:extLst>
                    <a:ext uri="{9D8B030D-6E8A-4147-A177-3AD203B41FA5}">
                      <a16:colId xmlns:a16="http://schemas.microsoft.com/office/drawing/2014/main" val="202763562"/>
                    </a:ext>
                  </a:extLst>
                </a:gridCol>
                <a:gridCol w="2959792">
                  <a:extLst>
                    <a:ext uri="{9D8B030D-6E8A-4147-A177-3AD203B41FA5}">
                      <a16:colId xmlns:a16="http://schemas.microsoft.com/office/drawing/2014/main" val="2766326702"/>
                    </a:ext>
                  </a:extLst>
                </a:gridCol>
                <a:gridCol w="2898555">
                  <a:extLst>
                    <a:ext uri="{9D8B030D-6E8A-4147-A177-3AD203B41FA5}">
                      <a16:colId xmlns:a16="http://schemas.microsoft.com/office/drawing/2014/main" val="3422900676"/>
                    </a:ext>
                  </a:extLst>
                </a:gridCol>
                <a:gridCol w="2857920">
                  <a:extLst>
                    <a:ext uri="{9D8B030D-6E8A-4147-A177-3AD203B41FA5}">
                      <a16:colId xmlns:a16="http://schemas.microsoft.com/office/drawing/2014/main" val="1388719801"/>
                    </a:ext>
                  </a:extLst>
                </a:gridCol>
              </a:tblGrid>
              <a:tr h="12926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dirty="0"/>
                        <a:t>Oncology Reports (2024</a:t>
                      </a:r>
                      <a:r>
                        <a:rPr lang="en-IN" sz="2000" dirty="0"/>
                        <a:t>)</a:t>
                      </a:r>
                      <a:endParaRPr lang="en-IN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</a:rPr>
                        <a:t>Wang, Y., Lin, W., Zhuang, X., Wang, X., He, Y., Li, L., &amp; Lyu, G.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Advances in artificial intelligence for the diagnosis and treatment of ovarian cancer</a:t>
                      </a:r>
                      <a:endParaRPr lang="en-IN" sz="16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Overview of AI applications in both diagnosis and treatment; highlights progress and clinical integration potential.</a:t>
                      </a:r>
                      <a:endParaRPr lang="en-IN" sz="16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921258"/>
                  </a:ext>
                </a:extLst>
              </a:tr>
              <a:tr h="23447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dirty="0"/>
                        <a:t>Anticancer Research (2020)</a:t>
                      </a:r>
                      <a:endParaRPr lang="en-IN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 dirty="0"/>
                        <a:t>Akazawa, M., &amp; Hashimoto, K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600" dirty="0"/>
                        <a:t>Artificial Intelligence in Ovarian Cancer Diagnosis</a:t>
                      </a:r>
                      <a:endParaRPr lang="en-IN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/>
                        <a:t>Single-center study using 5 machine learning algorithms (</a:t>
                      </a:r>
                      <a:r>
                        <a:rPr lang="en-US" sz="1600" dirty="0" err="1"/>
                        <a:t>XGBoost</a:t>
                      </a:r>
                      <a:r>
                        <a:rPr lang="en-US" sz="1600" dirty="0"/>
                        <a:t>, Random Forest, SVM, Logistic Regression, Naive Bayes); achieved highest accuracy of 0.80 with </a:t>
                      </a:r>
                      <a:r>
                        <a:rPr lang="en-US" sz="1600" dirty="0" err="1"/>
                        <a:t>XGBoost</a:t>
                      </a:r>
                      <a:r>
                        <a:rPr lang="en-US" sz="1600" dirty="0"/>
                        <a:t>; emphasizes need for larger datasets and integration of imaging data.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3090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4972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燕尾形"/>
          <p:cNvSpPr>
            <a:spLocks noGrp="1"/>
          </p:cNvSpPr>
          <p:nvPr>
            <p:ph type="ctrTitle"/>
          </p:nvPr>
        </p:nvSpPr>
        <p:spPr>
          <a:xfrm>
            <a:off x="194793" y="154055"/>
            <a:ext cx="5980386" cy="1107583"/>
          </a:xfrm>
          <a:prstGeom prst="chevron">
            <a:avLst>
              <a:gd name="adj" fmla="val 49970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 cap="flat" cmpd="sng">
            <a:solidFill>
              <a:srgbClr val="D9E2F3"/>
            </a:solidFill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altLang="zh-CN" sz="4000" dirty="0">
                <a:solidFill>
                  <a:schemeClr val="accent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5 .</a:t>
            </a:r>
            <a:r>
              <a:rPr lang="en-US" altLang="zh-CN" sz="4000" i="0" u="none" strike="noStrike" kern="1200" cap="none" spc="0" baseline="0" dirty="0">
                <a:solidFill>
                  <a:schemeClr val="accent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METHODOLOGY</a:t>
            </a:r>
            <a:endParaRPr lang="zh-CN" altLang="en-US" sz="4000" i="0" u="none" strike="noStrike" kern="1200" cap="none" spc="0" baseline="0" dirty="0">
              <a:solidFill>
                <a:schemeClr val="accent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8AE006-75CF-6401-1977-D93C3C3952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024" y="1439308"/>
            <a:ext cx="9458633" cy="51592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0C643-18FE-8F58-37D5-2B8FCFE8E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of 33,000 histopathology images were taken.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Publicly available datasets on Kaggle website.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Stratified split: 80% Training, 20% Testing.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 26400 images have been trained and 6600 images have been used for testing.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/>
          </a:p>
        </p:txBody>
      </p:sp>
      <p:sp>
        <p:nvSpPr>
          <p:cNvPr id="4" name="燕尾形">
            <a:extLst>
              <a:ext uri="{FF2B5EF4-FFF2-40B4-BE49-F238E27FC236}">
                <a16:creationId xmlns:a16="http://schemas.microsoft.com/office/drawing/2014/main" id="{E67CCB75-0941-2250-15A7-D2D4A2C4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444" y="158932"/>
            <a:ext cx="7922115" cy="1325563"/>
          </a:xfrm>
          <a:prstGeom prst="chevron">
            <a:avLst>
              <a:gd name="adj" fmla="val 49987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 cap="flat" cmpd="sng">
            <a:solidFill>
              <a:srgbClr val="D9E2F3"/>
            </a:solidFill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altLang="zh-CN" sz="4000" dirty="0">
                <a:solidFill>
                  <a:schemeClr val="accent1"/>
                </a:solidFill>
                <a:latin typeface="Times New Roman" panose="02020603050405020304" pitchFamily="18" charset="0"/>
                <a:ea typeface="等线" charset="0"/>
                <a:cs typeface="Times New Roman" panose="02020603050405020304" pitchFamily="18" charset="0"/>
              </a:rPr>
              <a:t>5.1 DATASET DESCRIPTION</a:t>
            </a:r>
            <a:endParaRPr lang="zh-CN" altLang="en-US" sz="4000" i="0" u="none" strike="noStrike" kern="1200" cap="none" spc="0" baseline="0" dirty="0">
              <a:solidFill>
                <a:schemeClr val="accent1"/>
              </a:solidFill>
              <a:latin typeface="Times New Roman" panose="02020603050405020304" pitchFamily="18" charset="0"/>
              <a:ea typeface="等线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184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">
            <a:extLst>
              <a:ext uri="{FF2B5EF4-FFF2-40B4-BE49-F238E27FC236}">
                <a16:creationId xmlns:a16="http://schemas.microsoft.com/office/drawing/2014/main" id="{565FECE5-C358-3977-588E-78C4198F402D}"/>
              </a:ext>
            </a:extLst>
          </p:cNvPr>
          <p:cNvSpPr>
            <a:spLocks/>
          </p:cNvSpPr>
          <p:nvPr/>
        </p:nvSpPr>
        <p:spPr>
          <a:xfrm>
            <a:off x="0" y="65191"/>
            <a:ext cx="7650866" cy="954301"/>
          </a:xfrm>
          <a:prstGeom prst="chevron">
            <a:avLst>
              <a:gd name="adj" fmla="val 49982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 cap="flat" cmpd="sng">
            <a:solidFill>
              <a:srgbClr val="D9E2F3"/>
            </a:solidFill>
            <a:prstDash val="solid"/>
            <a:round/>
          </a:ln>
        </p:spPr>
        <p:txBody>
          <a:bodyPr vert="horz" wrap="square" lIns="91440" tIns="45720" rIns="91440" bIns="45720" spcCol="360000" anchor="ctr" anchorCtr="0">
            <a:prstTxWarp prst="textNoShape">
              <a:avLst/>
            </a:prstTxWarp>
            <a:noAutofit/>
          </a:bodyPr>
          <a:lstStyle/>
          <a:p>
            <a:pPr lvl="1">
              <a:buClr>
                <a:srgbClr val="0070C0"/>
              </a:buClr>
            </a:pPr>
            <a:r>
              <a:rPr lang="en-GB" altLang="zh-CN" sz="4000" cap="small" dirty="0">
                <a:solidFill>
                  <a:schemeClr val="accent1"/>
                </a:solidFill>
                <a:latin typeface="Times New Roman" panose="02020603050405020304" pitchFamily="18" charset="0"/>
                <a:ea typeface="等线" charset="0"/>
                <a:cs typeface="Times New Roman" panose="02020603050405020304" pitchFamily="18" charset="0"/>
              </a:rPr>
              <a:t>5.2 </a:t>
            </a:r>
            <a:r>
              <a:rPr lang="en-GB" altLang="zh-CN" sz="3600" cap="small" dirty="0">
                <a:solidFill>
                  <a:schemeClr val="accent1"/>
                </a:solidFill>
                <a:latin typeface="Times New Roman" panose="02020603050405020304" pitchFamily="18" charset="0"/>
                <a:ea typeface="等线" charset="0"/>
                <a:cs typeface="Times New Roman" panose="02020603050405020304" pitchFamily="18" charset="0"/>
              </a:rPr>
              <a:t>PR</a:t>
            </a:r>
            <a:r>
              <a:rPr lang="en-GB" altLang="zh-CN" sz="3600" i="0" u="none" strike="noStrike" kern="1200" cap="small" spc="0" dirty="0">
                <a:solidFill>
                  <a:schemeClr val="accent1"/>
                </a:solidFill>
                <a:latin typeface="Times New Roman" panose="02020603050405020304" pitchFamily="18" charset="0"/>
                <a:ea typeface="等线" charset="0"/>
                <a:cs typeface="Times New Roman" panose="02020603050405020304" pitchFamily="18" charset="0"/>
              </a:rPr>
              <a:t>O</a:t>
            </a:r>
            <a:r>
              <a:rPr lang="en-GB" altLang="zh-CN" sz="3600" cap="small" dirty="0">
                <a:solidFill>
                  <a:schemeClr val="accent1"/>
                </a:solidFill>
                <a:latin typeface="Times New Roman" panose="02020603050405020304" pitchFamily="18" charset="0"/>
                <a:ea typeface="等线" charset="0"/>
                <a:cs typeface="Times New Roman" panose="02020603050405020304" pitchFamily="18" charset="0"/>
              </a:rPr>
              <a:t>JECT</a:t>
            </a:r>
            <a:r>
              <a:rPr lang="en-GB" altLang="zh-CN" sz="4000" i="0" u="none" strike="noStrike" kern="1200" cap="small" spc="0" dirty="0">
                <a:solidFill>
                  <a:schemeClr val="accent1"/>
                </a:solidFill>
                <a:latin typeface="Times New Roman" panose="02020603050405020304" pitchFamily="18" charset="0"/>
                <a:ea typeface="等线" charset="0"/>
                <a:cs typeface="Times New Roman" panose="02020603050405020304" pitchFamily="18" charset="0"/>
              </a:rPr>
              <a:t> </a:t>
            </a:r>
            <a:r>
              <a:rPr lang="en-GB" altLang="zh-CN" sz="4400" i="0" u="none" strike="noStrike" kern="1200" cap="small" spc="0" dirty="0">
                <a:solidFill>
                  <a:schemeClr val="accent1"/>
                </a:solidFill>
                <a:latin typeface="Times New Roman" panose="02020603050405020304" pitchFamily="18" charset="0"/>
                <a:ea typeface="等线" charset="0"/>
                <a:cs typeface="Times New Roman" panose="02020603050405020304" pitchFamily="18" charset="0"/>
              </a:rPr>
              <a:t>parameters</a:t>
            </a:r>
            <a:endParaRPr lang="zh-CN" altLang="en-US" sz="4400" i="0" u="none" strike="noStrike" kern="1200" cap="small" spc="0" dirty="0">
              <a:solidFill>
                <a:schemeClr val="accent1"/>
              </a:solidFill>
              <a:latin typeface="Times New Roman" panose="02020603050405020304" pitchFamily="18" charset="0"/>
              <a:ea typeface="等线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26F127F-82E3-FDB7-480D-3E03904EF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393" y="1301612"/>
            <a:ext cx="9872383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UBC-OCEAN (33,000 histological images) 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Resize 224×224, normalization (ImageNet-21k), label cleanup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Vision Transformer (ViT-base-patch16-224-in21k)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Hugging Face Trainer, weighted cross-entropy loss,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AdamW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optimizer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=3e-5)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HGSC, LGSC, EC, CC, MC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inference pipeline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Clinical Logic: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ROMA algorithm (CA-125, HE4, age)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UI/UX: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web portal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Confidence scores, morphological insights, exportable clinical reports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6E3F1A0-8F13-76E7-E61B-2C2D05618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Kaggle UBC-OCEAN (34,000+ histological images)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239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DAD2D8D-5DC3-212E-746F-8DA045F21E1B}"/>
              </a:ext>
            </a:extLst>
          </p:cNvPr>
          <p:cNvSpPr txBox="1"/>
          <p:nvPr/>
        </p:nvSpPr>
        <p:spPr>
          <a:xfrm>
            <a:off x="1145893" y="1724628"/>
            <a:ext cx="9306045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AI-based system analyzed histopathological ovarian tissue images to detect patterns associated with ovarian cancer.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was able to identify and classify different types of ovarian cancer, including High-Grade Serous, Low-Grade Serous, Endometrioid, Clear Cell, and Mucinous carcinoma.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diagnostic matrix generated probability scores for each cancer type, which can support early detection and clinical decision-making.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068B95-6F6C-7027-83B1-5E07546FC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59" y="290525"/>
            <a:ext cx="6212362" cy="117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814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CC413A7-2B7F-8D87-15A2-32815BFDC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598" y="559455"/>
            <a:ext cx="4533779" cy="44639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5B077A-FCC5-0788-8EE9-5BDE9ECF1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144" y="559454"/>
            <a:ext cx="4583936" cy="44639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825441-0349-456E-8911-516DB0EA8D50}"/>
              </a:ext>
            </a:extLst>
          </p:cNvPr>
          <p:cNvSpPr txBox="1"/>
          <p:nvPr/>
        </p:nvSpPr>
        <p:spPr>
          <a:xfrm>
            <a:off x="1539432" y="5243332"/>
            <a:ext cx="38659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.1:Trained data output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2A0556-D2E6-49A2-9773-5267DF66A7D7}"/>
              </a:ext>
            </a:extLst>
          </p:cNvPr>
          <p:cNvSpPr txBox="1"/>
          <p:nvPr/>
        </p:nvSpPr>
        <p:spPr>
          <a:xfrm>
            <a:off x="7361498" y="5243332"/>
            <a:ext cx="61895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.2:Untrained data output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971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"/>
          <p:cNvSpPr>
            <a:spLocks noGrp="1"/>
          </p:cNvSpPr>
          <p:nvPr>
            <p:ph type="body" idx="1"/>
          </p:nvPr>
        </p:nvSpPr>
        <p:spPr>
          <a:xfrm>
            <a:off x="498280" y="1848465"/>
            <a:ext cx="9732775" cy="42180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/>
              </a:rPr>
              <a:t>Develop a cross-platform mobile application using Flutter with secure user authentication and image upload (camera/gallery) functionality.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/>
              </a:rPr>
              <a:t>Integrate clinical parameters (CA-125, HE4, Age) and connect the app to a backend system for real-time AI-based ovarian cancer prediction.</a:t>
            </a:r>
          </a:p>
        </p:txBody>
      </p:sp>
      <p:sp>
        <p:nvSpPr>
          <p:cNvPr id="62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等线" charset="0"/>
                <a:cs typeface="Calibri" charset="0"/>
              </a:rPr>
              <a:t>13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63" name="燕尾形"/>
          <p:cNvSpPr>
            <a:spLocks/>
          </p:cNvSpPr>
          <p:nvPr/>
        </p:nvSpPr>
        <p:spPr>
          <a:xfrm>
            <a:off x="246032" y="262424"/>
            <a:ext cx="8603014" cy="970643"/>
          </a:xfrm>
          <a:prstGeom prst="chevron">
            <a:avLst>
              <a:gd name="adj" fmla="val 49979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 cap="flat" cmpd="sng">
            <a:solidFill>
              <a:srgbClr val="D9E2F3"/>
            </a:solidFill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GB" altLang="zh-CN" sz="4000" b="1" dirty="0">
                <a:solidFill>
                  <a:schemeClr val="accent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7</a:t>
            </a:r>
            <a:r>
              <a:rPr lang="en-GB" altLang="zh-CN" sz="4000" i="0" u="none" strike="noStrike" kern="1200" cap="none" spc="0" baseline="0" dirty="0">
                <a:solidFill>
                  <a:schemeClr val="accent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.</a:t>
            </a:r>
            <a:r>
              <a:rPr lang="en-US" altLang="zh-CN" sz="4000" i="0" u="none" strike="noStrike" kern="1200" cap="none" spc="0" baseline="0" dirty="0">
                <a:solidFill>
                  <a:schemeClr val="accent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FUTURE</a:t>
            </a:r>
            <a:r>
              <a:rPr lang="en-US" altLang="zh-CN" sz="4000" i="0" u="none" strike="noStrike" kern="1200" cap="none" spc="0" baseline="0" dirty="0">
                <a:solidFill>
                  <a:srgbClr val="548135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 </a:t>
            </a:r>
            <a:r>
              <a:rPr lang="en-US" altLang="zh-CN" sz="4000" dirty="0">
                <a:solidFill>
                  <a:schemeClr val="accent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WORK</a:t>
            </a:r>
            <a:endParaRPr lang="zh-CN" altLang="en-US" sz="4000" i="0" u="none" strike="noStrike" kern="1200" cap="none" spc="0" baseline="0" dirty="0">
              <a:solidFill>
                <a:schemeClr val="accent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1FF2D3-A2BE-F660-5D7E-D22BFE56E667}"/>
              </a:ext>
            </a:extLst>
          </p:cNvPr>
          <p:cNvSpPr txBox="1"/>
          <p:nvPr/>
        </p:nvSpPr>
        <p:spPr>
          <a:xfrm>
            <a:off x="6964820" y="4287467"/>
            <a:ext cx="45719" cy="55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54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">
            <a:extLst>
              <a:ext uri="{FF2B5EF4-FFF2-40B4-BE49-F238E27FC236}">
                <a16:creationId xmlns:a16="http://schemas.microsoft.com/office/drawing/2014/main" id="{F43BF4C0-55C8-FCFA-B196-13D844838898}"/>
              </a:ext>
            </a:extLst>
          </p:cNvPr>
          <p:cNvSpPr>
            <a:spLocks/>
          </p:cNvSpPr>
          <p:nvPr/>
        </p:nvSpPr>
        <p:spPr>
          <a:xfrm>
            <a:off x="178070" y="196645"/>
            <a:ext cx="8997851" cy="875072"/>
          </a:xfrm>
          <a:prstGeom prst="chevron">
            <a:avLst>
              <a:gd name="adj" fmla="val 49987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 cap="flat" cmpd="sng">
            <a:solidFill>
              <a:srgbClr val="D9E2F3"/>
            </a:solidFill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en-US" altLang="zh-CN" sz="4000" dirty="0">
                <a:solidFill>
                  <a:schemeClr val="accent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8.REFERENCE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B62F-AAEE-3568-2FE0-C877DF495431}"/>
              </a:ext>
            </a:extLst>
          </p:cNvPr>
          <p:cNvSpPr txBox="1"/>
          <p:nvPr/>
        </p:nvSpPr>
        <p:spPr>
          <a:xfrm>
            <a:off x="178071" y="1225689"/>
            <a:ext cx="11535510" cy="5594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9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Cai G. (2024). Artificial intelligence-based models enabling accurate diagnosis of ovarian cancer using laboratory tests in China. Health Science Reports, 7(7), 2203.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Ayoubi Zadeh S.M. (2024). Prediction of ovarian cancer using artificial intelligence tools.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Science Reports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7, 2203.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Hong M.K., Ding D.C. (2025). Early diagnosis of ovarian cancer: A comprehensive review of the advances, challenges, and future directions.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15(4), 406.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Xu H.L. (2022). Artificial intelligence performance in image-based ovarian cancer identification: A systematic review and meta-analysis. </a:t>
            </a:r>
            <a:r>
              <a:rPr lang="en-US" sz="19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eClinicalMedicine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53, 101662.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 Y. (2024). Advances in artificial intelligence for the diagnosis and treatment of ovarian cancer.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Oncology Reports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51, 46.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Akazawa M., Hashimoto K. (2020). Artificial intelligence in ovarian cancer diagnosis.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Anticancer Research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40(9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), 4795–4800.14482 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484759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等线" charset="0"/>
                <a:cs typeface="Calibri" charset="0"/>
              </a:rPr>
              <a:t>15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77" name="矩形"/>
          <p:cNvSpPr>
            <a:spLocks/>
          </p:cNvSpPr>
          <p:nvPr/>
        </p:nvSpPr>
        <p:spPr>
          <a:xfrm>
            <a:off x="3559277" y="2967335"/>
            <a:ext cx="5051321" cy="9963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THANK YOU</a:t>
            </a:r>
            <a:endParaRPr lang="zh-CN" altLang="en-US" sz="60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等线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768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438</TotalTime>
  <Words>1188</Words>
  <Application>Microsoft Office PowerPoint</Application>
  <PresentationFormat>Widescreen</PresentationFormat>
  <Paragraphs>117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Cambria</vt:lpstr>
      <vt:lpstr>Droid Sans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 2.PROBLEM STATEMENT</vt:lpstr>
      <vt:lpstr> 3.OBJECTIVES</vt:lpstr>
      <vt:lpstr>4. REVIEW OF LITERATURE</vt:lpstr>
      <vt:lpstr>PowerPoint Presentation</vt:lpstr>
      <vt:lpstr>5 .METHODOLOGY</vt:lpstr>
      <vt:lpstr>5.1 DATASET DESCRIPTION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Joshwa Jayaseelan S</dc:creator>
  <cp:lastModifiedBy>Hariesh NV</cp:lastModifiedBy>
  <cp:revision>13</cp:revision>
  <dcterms:created xsi:type="dcterms:W3CDTF">2024-10-08T11:37:00Z</dcterms:created>
  <dcterms:modified xsi:type="dcterms:W3CDTF">2026-03-11T14:17:14Z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55732CA0B8E34D20A3D06155B6822C5A_13</vt:lpwstr>
  </property>
  <property fmtid="{D5CDD505-2E9C-101B-9397-08002B2CF9AE}" pid="3" name="KSOProductBuildVer">
    <vt:lpwstr>1033-12.2.0.18911</vt:lpwstr>
  </property>
</Properties>
</file>